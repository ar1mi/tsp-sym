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74320"/>
            <a:ext cx="2377440" cy="2377440"/>
          </a:xfrm>
          <a:prstGeom prst="ellipse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822960"/>
            <a:ext cx="1463040" cy="14630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TSP-SYM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Symulator rozwiazywania problemu komiwojazera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algorytmem genetycznym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 ·  Tkinter  ·  Algorytm Genetyczny  ·  Hill Climbing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Ar1Mi / TSP-SYM  ·  github.com/Ar1Mi/TSP-SYM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komiwojazera (TSP)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jest N miast oraz odleglosci miedzy nimi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Znalezc najkrótsza trase odwiedzajaca kazde miasto dokladnie raz i wracajaca do punktu startowego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Zlozonosc: problem NP-trudny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Przeszukiwanie wyczerpujace: O(n!) tras — dla 20 miast to ~2,4 · 10^18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Zastosowania: logistyka, trasowanie, planowanie produkcji, projektowanie ukladów scalonych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25754" y="2651760"/>
            <a:ext cx="1595286" cy="1117031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68226" y="1741148"/>
            <a:ext cx="357528" cy="2027644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68226" y="1741148"/>
            <a:ext cx="1495944" cy="1847336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26680" y="1622298"/>
            <a:ext cx="137489" cy="1966186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8123" y="1622298"/>
            <a:ext cx="1778557" cy="1133065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8123" y="2651760"/>
            <a:ext cx="2372917" cy="103604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74736" y="2505456"/>
            <a:ext cx="292608" cy="29260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74736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17865" y="3442180"/>
            <a:ext cx="292608" cy="29260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17865" y="3442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79450" y="3622487"/>
            <a:ext cx="292608" cy="29260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79450" y="362248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801819" y="2609060"/>
            <a:ext cx="292608" cy="29260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1819" y="2609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21922" y="1594844"/>
            <a:ext cx="292608" cy="29260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1922" y="15948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580376" y="1475994"/>
            <a:ext cx="292608" cy="29260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0376" y="14759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0" y="4206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D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Przykladowa trasa przez 6 miast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315968"/>
            <a:ext cx="274320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A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342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miasta: ~8 · 10^67 tras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projektu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6517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471A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51760" cy="32918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881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24688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Aplikacja GUI (Tkinter)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Interfejs, kanwa, parametry, uruchomienie AG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517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BC9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2651760" cy="32918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881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tsp_solver.py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435608"/>
            <a:ext cx="24688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Potok AG &amp; TSPLIB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Wczytywanie instancji, run_ga(), wyniki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517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51560"/>
            <a:ext cx="2651760" cy="32918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881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tsp_ga.py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435608"/>
            <a:ext cx="24688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 AG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Selekcja, krzyzowanie, mutacja, 2-opt/3-opt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6517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43200"/>
            <a:ext cx="2651760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797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debug_scenarios.py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127248"/>
            <a:ext cx="24688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Scenariusze debugowania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testy: konwersja, selekcja, krzyzowanie, mutacja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743200"/>
            <a:ext cx="26517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743200"/>
            <a:ext cx="2651760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7797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127248"/>
            <a:ext cx="24688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jednostkowe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Unit-testy operatorów i potoku AG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155448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572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48256" y="4572000"/>
            <a:ext cx="155448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48256" y="4572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30752" y="4572000"/>
            <a:ext cx="155448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4572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13248" y="4572000"/>
            <a:ext cx="155448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13248" y="4572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95744" y="4572000"/>
            <a:ext cx="155448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95744" y="4572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TSPLIB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 blokowy algorytmu genetycznego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3931920" cy="749808"/>
          </a:xfrm>
          <a:prstGeom prst="rect">
            <a:avLst/>
          </a:prstGeom>
          <a:solidFill>
            <a:srgbClr val="E8F8F5"/>
          </a:solidFill>
          <a:ln w="19050">
            <a:solidFill>
              <a:srgbClr val="1ABC9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25296"/>
            <a:ext cx="310896" cy="310896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25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607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Inicjalizacja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3533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Losowa populacja N tras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1755648"/>
            <a:ext cx="18288" cy="164592"/>
          </a:xfrm>
          <a:prstGeom prst="line">
            <a:avLst/>
          </a:prstGeom>
          <a:noFill/>
          <a:ln w="19050">
            <a:solidFill>
              <a:srgbClr val="5D7A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20240"/>
            <a:ext cx="3931920" cy="749808"/>
          </a:xfrm>
          <a:prstGeom prst="rect">
            <a:avLst/>
          </a:prstGeom>
          <a:solidFill>
            <a:srgbClr val="EBF5FF"/>
          </a:solidFill>
          <a:ln w="19050">
            <a:solidFill>
              <a:srgbClr val="2471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139696"/>
            <a:ext cx="310896" cy="310896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9751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Ocena przystosowania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2677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Dlugosc trasy: suma odleglosci euklidesowych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2670048"/>
            <a:ext cx="18288" cy="164592"/>
          </a:xfrm>
          <a:prstGeom prst="line">
            <a:avLst/>
          </a:prstGeom>
          <a:noFill/>
          <a:ln w="19050">
            <a:solidFill>
              <a:srgbClr val="5D7A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834640"/>
            <a:ext cx="3931920" cy="749808"/>
          </a:xfrm>
          <a:prstGeom prst="rect">
            <a:avLst/>
          </a:prstGeom>
          <a:solidFill>
            <a:srgbClr val="EBF5FF"/>
          </a:solidFill>
          <a:ln w="19050">
            <a:solidFill>
              <a:srgbClr val="2471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054096"/>
            <a:ext cx="310896" cy="310896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8895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Selekcja rodziców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1821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Turniejowa lub metoda ruletki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0" y="3584448"/>
            <a:ext cx="18288" cy="164592"/>
          </a:xfrm>
          <a:prstGeom prst="line">
            <a:avLst/>
          </a:prstGeom>
          <a:noFill/>
          <a:ln w="19050">
            <a:solidFill>
              <a:srgbClr val="5D7A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749040"/>
            <a:ext cx="3931920" cy="749808"/>
          </a:xfrm>
          <a:prstGeom prst="rect">
            <a:avLst/>
          </a:prstGeom>
          <a:solidFill>
            <a:srgbClr val="FEF9E7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968496"/>
            <a:ext cx="310896" cy="310896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38039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Krzyzowanie (crossover)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0965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 / CX / PMX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1005840"/>
            <a:ext cx="4206240" cy="749808"/>
          </a:xfrm>
          <a:prstGeom prst="rect">
            <a:avLst/>
          </a:prstGeom>
          <a:solidFill>
            <a:srgbClr val="EBF5FF"/>
          </a:solidFill>
          <a:ln w="19050">
            <a:solidFill>
              <a:srgbClr val="2471A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225296"/>
            <a:ext cx="310896" cy="310896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225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4920" y="10607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Mutacja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74920" y="13533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2-swap / Shift / Scramble / Inversion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0" y="1755648"/>
            <a:ext cx="18288" cy="164592"/>
          </a:xfrm>
          <a:prstGeom prst="line">
            <a:avLst/>
          </a:prstGeom>
          <a:noFill/>
          <a:ln w="19050">
            <a:solidFill>
              <a:srgbClr val="5D7A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1920240"/>
            <a:ext cx="4206240" cy="749808"/>
          </a:xfrm>
          <a:prstGeom prst="rect">
            <a:avLst/>
          </a:prstGeom>
          <a:solidFill>
            <a:srgbClr val="EBF5FF"/>
          </a:solidFill>
          <a:ln w="19050">
            <a:solidFill>
              <a:srgbClr val="2471A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139696"/>
            <a:ext cx="310896" cy="310896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74920" y="19751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Elityzm (opcjonalnie)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74920" y="22677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Zachowanie najlepszego osobnika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0" y="2670048"/>
            <a:ext cx="18288" cy="164592"/>
          </a:xfrm>
          <a:prstGeom prst="line">
            <a:avLst/>
          </a:prstGeom>
          <a:noFill/>
          <a:ln w="19050">
            <a:solidFill>
              <a:srgbClr val="5D7A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2834640"/>
            <a:ext cx="4206240" cy="749808"/>
          </a:xfrm>
          <a:prstGeom prst="rect">
            <a:avLst/>
          </a:prstGeom>
          <a:solidFill>
            <a:srgbClr val="FDEDEC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054096"/>
            <a:ext cx="310896" cy="31089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74920" y="28895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Kryterium stopu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74920" y="31821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Osiagnieto zadana liczbe pokolen?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0" y="38221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 -&gt; nastepne pokolenie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0" y="42245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-&gt; wyswietl wynik koncowy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Algorytmy selekcji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023360" cy="3840480"/>
          </a:xfrm>
          <a:prstGeom prst="rect">
            <a:avLst/>
          </a:prstGeom>
          <a:solidFill>
            <a:srgbClr val="EBF5FF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023360" cy="38404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Selekcja turniejowa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Wybierz losowa podgrupe k osobników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Wybierz osobnika z najmniejszym kosztem trasy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Powtórz dla drugiego rodzica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= -cost  (krótsza trasa = lepsza)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Zalety: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Prosta implementacja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Odpornosc na skalowanie fitness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Latwa regulacja presji selekcji przez 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023360" cy="3840480"/>
          </a:xfrm>
          <a:prstGeom prst="rect">
            <a:avLst/>
          </a:prstGeom>
          <a:solidFill>
            <a:srgbClr val="E8F8F5"/>
          </a:solidFill>
          <a:ln w="25400">
            <a:solidFill>
              <a:srgbClr val="0E9A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005840"/>
            <a:ext cx="4023360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332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Selekcja metoda ruletki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Oblicz fitness kazdego osobnika: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f(i) = 1 / (cost(i) + epsilon)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Oblicz sumaryczny fitness populacji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Wybieraj osobnika prop. do jego udzialu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P(i) = f(i) / suma_f(j)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Zalety: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Probabilistyczny wybór — róznorodnosc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Lepsze osobniki czesciej daja potomków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 krzyzowania (Crossover)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743200" cy="3886200"/>
          </a:xfrm>
          <a:prstGeom prst="rect">
            <a:avLst/>
          </a:prstGeom>
          <a:solidFill>
            <a:srgbClr val="EBF5FF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6576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515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 — Ordered Crossover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560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Wybierz losowy segment z Rodzica A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Skopiuj segment do potomka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Wypelnij pozostale pozycje miastami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z Rodzica B (zachowujac kolejnosc)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47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[1 2 | 3 4 5 | 6 7]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47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[3 7   4 2 6   1 5]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247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 [7 2 | 3 4 5 | 1 6]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Zachowuje wzgledna kolejnosc miast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54680" y="1005840"/>
            <a:ext cx="2743200" cy="3886200"/>
          </a:xfrm>
          <a:prstGeom prst="rect">
            <a:avLst/>
          </a:prstGeom>
          <a:solidFill>
            <a:srgbClr val="F5EEF8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1005840"/>
            <a:ext cx="2743200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10515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— Cycle Crossover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46120" y="1463040"/>
            <a:ext cx="2560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Znajdz cykl pozycji miedzy R.A a R.B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Pozycje cyklu pobrane z Rodzica A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Pozostale pozycje — z Rodzica B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[1 2 3 4 5 6 7]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[3 4 5 2 1 7 6]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Cykl: 1-&gt;3-&gt;5-&gt;1 (poz. 0,2,4)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 [1 4 3 2 5 7 6]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Zachowuje bezwzgledne pozycje elem.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743200" cy="3886200"/>
          </a:xfrm>
          <a:prstGeom prst="rect">
            <a:avLst/>
          </a:prstGeom>
          <a:solidFill>
            <a:srgbClr val="FEF9E7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005840"/>
            <a:ext cx="274320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10515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PMX — Partially Mapped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2560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Wybierz segment (jak w OX)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Zbuduj tabele odwzorowania A&lt;-&gt;B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Pozostale pozycje wypelnij przez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mapowanie (rozwiaz konflikty)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[1 2 | 3 4 | 5 6 7]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[5 4 | 6 2 | 3 1 7]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Mapa: 3&lt;-&gt;6, 4&lt;-&gt;2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 [1 2 | 3 4 | 5 6 7] -&gt; rozw.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Zachowuje relacje miedzy pozycjami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 mutacji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EBF5FF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32918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2-swap (domyslny)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389534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Wybierz 2 losowe pozycje i, j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Zamien miejscami miasta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47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Przed:[1 2 3 4 5 6 7]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i=1, j=4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47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Po:  [1 5 3 4 2 6 7]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Minimalne zaburzenie, szybki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1828800"/>
          </a:xfrm>
          <a:prstGeom prst="rect">
            <a:avLst/>
          </a:prstGeom>
          <a:solidFill>
            <a:srgbClr val="F5EEF8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05840"/>
            <a:ext cx="4114800" cy="32918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(przesuniecie)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73168" y="1389888"/>
            <a:ext cx="389534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Wyjmij element z pozycji i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Wstaw na pozycje j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Przed:[1 2 3 4 5 6 7]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i=1, j=4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Po:  [1 3 4 5 2 6 7]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Zachowuje kolejnosc sasiadów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FEF9E7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017520"/>
            <a:ext cx="4114800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63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 (przetasowanie)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3401568"/>
            <a:ext cx="389534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Wybierz losowy pododcinek [i..j]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Przetasuj losowo elementy segmentu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Przed:[1 2 3 4 5 6 7]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Seg. [2..5]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Po:  [1 2 5 3 4 6 7]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Silniejsze zaburzenie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114800" cy="1828800"/>
          </a:xfrm>
          <a:prstGeom prst="rect">
            <a:avLst/>
          </a:prstGeom>
          <a:solidFill>
            <a:srgbClr val="E9F7E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017520"/>
            <a:ext cx="4114800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063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(inwersja)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3168" y="3401568"/>
            <a:ext cx="389534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Wybierz losowy pododcinek [i..j]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Odwróc kolejnosc elementów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Przed:[1 2 3 4 5 6 7]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Seg. [1..4]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Po:  [1 5 4 3 2 6 7]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Podstawa algorytmu 2-opt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Przeszukiwanie lokalne: Hill Climbing (2-opt / 3-opt)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4572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2-opt: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Usun dwie krawedzie trasy i polacz wierzcholki na nowo.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Jesli nowa trasa jest krótsza — przyjmij ja.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 (first improvement):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Dla kazdej pary krawedzi (i, j)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Oblicz delta = new_length - old_length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Jesli delta &lt; -eps -&gt; przyjmij i zacznij od nowa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Wariant 3-opt: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 przebiegi 2-opt + jeden finalny przebieg.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Glebsze przeszukiwanie, nieco wolniejsze.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z AG: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Stosowany do kazdego potomka po mutacji.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Aktywowany od pokolenia hillclimbing_start_generation.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 2-opt: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577840" y="1554480"/>
            <a:ext cx="1005840" cy="18288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1645920"/>
            <a:ext cx="640080" cy="27432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554480"/>
            <a:ext cx="1188720" cy="365760"/>
          </a:xfrm>
          <a:prstGeom prst="line">
            <a:avLst/>
          </a:prstGeom>
          <a:noFill/>
          <a:ln w="12700">
            <a:solidFill>
              <a:srgbClr val="5D7A99"/>
            </a:solidFill>
            <a:prstDash val="dot"/>
          </a:ln>
        </p:spPr>
      </p:sp>
      <p:sp>
        <p:nvSpPr>
          <p:cNvPr id="9" name="Shape 7"/>
          <p:cNvSpPr/>
          <p:nvPr/>
        </p:nvSpPr>
        <p:spPr>
          <a:xfrm>
            <a:off x="5449824" y="1609344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9824" y="1609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55664" y="1426464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1426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644384" y="1792224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4384" y="1792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284464" y="1517904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1517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120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2-opt: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2926080"/>
            <a:ext cx="2194560" cy="18288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743200"/>
            <a:ext cx="1828800" cy="9144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9824" y="2798064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9824" y="2798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55664" y="2615184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644384" y="2980944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44384" y="2980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284464" y="2706624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84464" y="270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12080" y="3931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&lt; 0 -&gt; trasa ulepszona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12080" y="4434840"/>
            <a:ext cx="3657600" cy="594360"/>
          </a:xfrm>
          <a:prstGeom prst="rect">
            <a:avLst/>
          </a:prstGeom>
          <a:solidFill>
            <a:srgbClr val="E8F8F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4480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d(A,C) + d(B,D) - d(A,B) - d(C,D)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Zarzadzanie instancjami TSP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5303520" cy="868680"/>
          </a:xfrm>
          <a:prstGeom prst="rect">
            <a:avLst/>
          </a:prstGeom>
          <a:solidFill>
            <a:srgbClr val="FAFCFF"/>
          </a:solidFill>
          <a:ln w="19050">
            <a:solidFill>
              <a:srgbClr val="2471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1280160"/>
            <a:ext cx="310896" cy="310896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" y="106984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Bezposrednia sciezka (Direct Path)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1353312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Jesli podano sciezke do pliku — wczytywany bezposrednio przez load_tsplib_instance()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71800" y="1874520"/>
            <a:ext cx="18288" cy="137160"/>
          </a:xfrm>
          <a:prstGeom prst="line">
            <a:avLst/>
          </a:prstGeom>
          <a:noFill/>
          <a:ln w="19050">
            <a:solidFill>
              <a:srgbClr val="5D7A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011680"/>
            <a:ext cx="5303520" cy="868680"/>
          </a:xfrm>
          <a:prstGeom prst="rect">
            <a:avLst/>
          </a:prstGeom>
          <a:solidFill>
            <a:srgbClr val="FAFCFF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310896" cy="31089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207568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instances/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2359152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Wyszukiwanie pliku ./instances/&lt;name&gt;.tsp w katalogu projektu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71800" y="2880360"/>
            <a:ext cx="18288" cy="137160"/>
          </a:xfrm>
          <a:prstGeom prst="line">
            <a:avLst/>
          </a:prstGeom>
          <a:noFill/>
          <a:ln w="19050">
            <a:solidFill>
              <a:srgbClr val="5D7A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017520"/>
            <a:ext cx="5303520" cy="868680"/>
          </a:xfrm>
          <a:prstGeom prst="rect">
            <a:avLst/>
          </a:prstGeom>
          <a:solidFill>
            <a:srgbClr val="FAFCFF"/>
          </a:solidFill>
          <a:ln w="19050">
            <a:solidFill>
              <a:srgbClr val="0E9A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" y="3291840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" y="308152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Generowanie syntetyczne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" y="3364992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Jesli plik nieznaleziony — generowane sa syntetyczne miasta: uklad kolisty + losowe zaburzenia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4114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Wbudowane instancje TSPLIB: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434840"/>
            <a:ext cx="1261872" cy="502920"/>
          </a:xfrm>
          <a:prstGeom prst="rect">
            <a:avLst/>
          </a:prstGeom>
          <a:solidFill>
            <a:srgbClr val="EBF5FF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43484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berlin52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miasta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73352" y="4434840"/>
            <a:ext cx="1261872" cy="502920"/>
          </a:xfrm>
          <a:prstGeom prst="rect">
            <a:avLst/>
          </a:prstGeom>
          <a:solidFill>
            <a:srgbClr val="EBF5FF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73352" y="443484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eil51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miast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26664" y="4434840"/>
            <a:ext cx="1261872" cy="502920"/>
          </a:xfrm>
          <a:prstGeom prst="rect">
            <a:avLst/>
          </a:prstGeom>
          <a:solidFill>
            <a:srgbClr val="EBF5FF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26664" y="443484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kroA100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miast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79976" y="4434840"/>
            <a:ext cx="1261872" cy="502920"/>
          </a:xfrm>
          <a:prstGeom prst="rect">
            <a:avLst/>
          </a:prstGeom>
          <a:solidFill>
            <a:srgbClr val="EBF5FF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9976" y="443484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ch130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miast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1005840"/>
            <a:ext cx="2880360" cy="3108960"/>
          </a:xfrm>
          <a:prstGeom prst="rect">
            <a:avLst/>
          </a:prstGeom>
          <a:solidFill>
            <a:srgbClr val="F4F6F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1051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TSPLIB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1463040"/>
            <a:ext cx="2697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berlin52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TSP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DIMENSION: 52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EDGE_WEIGHT_TYPE: EUC_2D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NODE_COORD_SECTION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1  565.0  575.0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2  25.0   185.0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0" y="4160520"/>
            <a:ext cx="288036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42062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d(i,j) = sqrt((xi-xj)^2 + (yi-yj)^2)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Funkcjonalnosc aplikacji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71A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2918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Wizualizacja trasy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25603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Interaktywna kanwa Tkinter: wyswietlanie miast i aktualnej najlepszej trasy w czasie rzeczywistym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005840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005840"/>
            <a:ext cx="2743200" cy="32918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51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Wykresy zbieznosci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46120" y="1389888"/>
            <a:ext cx="25603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Sledzenie best / average fitness w kolejnych pokoleniach. GARunResult przechowuje historie metryk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05840"/>
            <a:ext cx="2743200" cy="32918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51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Konfiguracja parametrów AG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0" y="1389888"/>
            <a:ext cx="25603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Rozmiar populacji, liczba pokolen, metoda selekcji, typ krzyzowania, typ mutacji, elityzm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17520"/>
            <a:ext cx="2743200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401568"/>
            <a:ext cx="25603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Wlaczanie 2-opt i 3-opt. Konfiguracja pokolenia aktywacji (hillclimbing_start_generation)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3017520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3017520"/>
            <a:ext cx="2743200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Wczytywanie instancji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3401568"/>
            <a:ext cx="25603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wbudowanych (berlin52, eil51, kroA100, ch130) lub wczytanie zewnetrznego pliku .tsp przez GUI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3017520"/>
            <a:ext cx="274320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Scenariusze debugowania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26480" y="3401568"/>
            <a:ext cx="25603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scenariusze z eksportem logów: konwersja wartosci, selekcja, krzyzowanie, mutacja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Testowanie i debugowanie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2011680" cy="2743200"/>
          </a:xfrm>
          <a:prstGeom prst="rect">
            <a:avLst/>
          </a:prstGeom>
          <a:solidFill>
            <a:srgbClr val="FAFCFF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712" y="1188720"/>
            <a:ext cx="310896" cy="310896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Konwersja wartosci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kodowania binarnego: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(value - min) / (max - min) × poziomy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1051560"/>
            <a:ext cx="2011680" cy="2743200"/>
          </a:xfrm>
          <a:prstGeom prst="rect">
            <a:avLst/>
          </a:prstGeom>
          <a:solidFill>
            <a:srgbClr val="FAFCFF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3552" y="1188720"/>
            <a:ext cx="310896" cy="31089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Poprawnosc selekcji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14600" y="21488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selekcji turniejowej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ruletki na populacji testowej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2011680" cy="2743200"/>
          </a:xfrm>
          <a:prstGeom prst="rect">
            <a:avLst/>
          </a:prstGeom>
          <a:solidFill>
            <a:srgbClr val="FAFCFF"/>
          </a:solidFill>
          <a:ln w="25400">
            <a:solidFill>
              <a:srgbClr val="0E9A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22392" y="1188720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2392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Operacje krzyzowania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Sledzenie OX / CX / PMX: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poprawnosci permutacji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0840" y="1051560"/>
            <a:ext cx="2011680" cy="2743200"/>
          </a:xfrm>
          <a:prstGeom prst="rect">
            <a:avLst/>
          </a:prstGeom>
          <a:solidFill>
            <a:srgbClr val="FAFC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71232" y="1188720"/>
            <a:ext cx="310896" cy="31089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1232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Efekty mutacji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12280" y="21488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2-swap / Shift 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 / Inversion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931920"/>
            <a:ext cx="8595360" cy="914400"/>
          </a:xfrm>
          <a:prstGeom prst="rect">
            <a:avLst/>
          </a:prstGeom>
          <a:solidFill>
            <a:srgbClr val="E9F7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9776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jednostkowe (tests/):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Unit-testy operatorów AG  ·  Testy potoku run_ga()  ·  Eksport logów  ·  Autonomiczne uruchomienie bez GUI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Wnioski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Zaimplementowany pelny potok AG do rozwiazywania problemu komiwojazera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81965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Elastyczna konfiguracja: 2 metody selekcji, 3 operatory krzyzowania, 4 operatory mutacji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52374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przeszukiwania lokalnego Hill Climbing (2-opt / 3-opt) dla poprawy jakosci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2278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Interaktywna wizualizacja trasy i wykresy zbieznosci w czasie rzeczywistym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13632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Wsparcie standardowych instancji TSPLIB + wczytywanie zewnetrznych plików .tsp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github.com/Ar1Mi/TSP-SYM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TSP-SYM</dc:title>
  <dc:subject>PptxGenJS Presentation</dc:subject>
  <dc:creator>PptxGenJS</dc:creator>
  <cp:lastModifiedBy>PptxGenJS</cp:lastModifiedBy>
  <cp:revision>1</cp:revision>
  <dcterms:created xsi:type="dcterms:W3CDTF">2026-05-26T22:07:48Z</dcterms:created>
  <dcterms:modified xsi:type="dcterms:W3CDTF">2026-05-26T22:07:48Z</dcterms:modified>
</cp:coreProperties>
</file>