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6" d="100"/>
          <a:sy n="186" d="100"/>
        </p:scale>
        <p:origin x="180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001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"/>
            <a:ext cx="2377440" cy="2377440"/>
          </a:xfrm>
          <a:prstGeom prst="ellipse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822960"/>
            <a:ext cx="1463040" cy="14630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TSP-SYM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Symulator rozwiazywania problemu komiwojazera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algorytmem genetycznym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·  Tkinter  ·  Algorytm Genetyczny  ·  Hill Climbing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Ar1Mi / TSP-SYM  ·  github.com/Ar1Mi/TSP-SYM</a:t>
            </a:r>
            <a:r>
              <a:rPr lang="ru-RU" sz="900" dirty="0">
                <a:solidFill>
                  <a:srgbClr val="5D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5D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pl-PL" sz="900" dirty="0">
                <a:solidFill>
                  <a:srgbClr val="5D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Yahor Falkouski </a:t>
            </a:r>
            <a:r>
              <a:rPr lang="en-US" sz="900" dirty="0">
                <a:solidFill>
                  <a:srgbClr val="5D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pl-PL" sz="900" dirty="0">
                <a:solidFill>
                  <a:srgbClr val="5D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 </a:t>
            </a:r>
            <a:r>
              <a:rPr lang="pl-PL" sz="900" dirty="0" err="1">
                <a:solidFill>
                  <a:srgbClr val="5D9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Gubanovich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komiwojazera (TSP)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jest N miast oraz odleglosci miedzy nimi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Znalezc najkrótsza trase odwiedzajaca kazde miasto dokladnie raz i wracajaca do punktu startowego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Zlozonosc: problem NP-trudny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Przeszukiwanie wyczerpujace: O(n!) tras — dla 20 miast to ~2,4 · 10^18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Zastosowania: logistyka, trasowanie, planowanie produkcji, projektowanie ukladów scalonych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25754" y="2651760"/>
            <a:ext cx="1595286" cy="1117031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68226" y="1741148"/>
            <a:ext cx="357528" cy="2027644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68226" y="1741148"/>
            <a:ext cx="1495944" cy="1847336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1622298"/>
            <a:ext cx="137489" cy="1966186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8123" y="1622298"/>
            <a:ext cx="1778557" cy="1133065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8123" y="2651760"/>
            <a:ext cx="2372917" cy="103604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74736" y="2505456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4736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17865" y="3442180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7865" y="3442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79450" y="3622487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9450" y="362248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01819" y="2609060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1819" y="2609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21922" y="1594844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1922" y="15948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80376" y="1475994"/>
            <a:ext cx="292608" cy="29260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0376" y="14759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Przykladowa trasa przez 6 miast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315968"/>
            <a:ext cx="274320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A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342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miasta: ~8 · 10^67 tras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projektu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471A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51760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88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GUI (Tkinter)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Interfejs, kanwa, parametry, uruchomienie AG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BC9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32918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88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tsp_solver.py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43560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Potok AG &amp; TSPLIB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Wczytywanie instancji, run_ga(), wyniki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2651760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88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tsp_ga.py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43560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AG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Selekcja, krzyzowanie, mutacja, 2-opt/3-opt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265176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79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debug_scenarios.py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debugowania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testy: konwersja, selekcja, krzyzowanie, mutacja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43200"/>
            <a:ext cx="265176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797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2724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jednostkowe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Unit-testy operatorów i potoku AG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48256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48256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30752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13248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95744" y="4572000"/>
            <a:ext cx="1554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5744" y="4572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TSPLIB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 blokowy algorytmu genetycznego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026" name="Picture 2" descr="Алгоритм генетического решения задачи коммивояжера">
            <a:extLst>
              <a:ext uri="{FF2B5EF4-FFF2-40B4-BE49-F238E27FC236}">
                <a16:creationId xmlns:a16="http://schemas.microsoft.com/office/drawing/2014/main" id="{28203914-1A18-480C-B10E-B5483A4910D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577" y="1011448"/>
            <a:ext cx="5524846" cy="387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Algorytmy selekcji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23360" cy="3840480"/>
          </a:xfrm>
          <a:prstGeom prst="rect">
            <a:avLst/>
          </a:prstGeom>
          <a:solidFill>
            <a:srgbClr val="EBF5F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38404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 turniejowa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Wybierz losowa podgrupe k osobników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Wybierz osobnika z najmniejszym kosztem trasy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Powtórz dla drugiego rodzica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-cost  (krótsza trasa = lepsza)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Prosta implementacja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Odpornosc na skalowanie fitness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Latwa regulacja presji selekcji przez 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023360" cy="3840480"/>
          </a:xfrm>
          <a:prstGeom prst="rect">
            <a:avLst/>
          </a:prstGeom>
          <a:solidFill>
            <a:srgbClr val="E8F8F5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05840"/>
            <a:ext cx="402336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332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 metoda ruletki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Oblicz fitness kazdego osobnika: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f(i) = 1 / (cost(i) + epsilon)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Oblicz sumaryczny fitness populacji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Wybieraj osobnika prop. do jego udzialu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P(i) = f(i) / suma_f(j)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Probabilistyczny wybór — róznorodnosc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Lepsze osobniki czesciej daja potomków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krzyzowania (Crossover)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3886200"/>
          </a:xfrm>
          <a:prstGeom prst="rect">
            <a:avLst/>
          </a:prstGeom>
          <a:solidFill>
            <a:srgbClr val="EBF5F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 — Ordered Crossover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Wybierz losowy segment z Rodzica A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Skopiuj segment do potomka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Wypelnij pozostale pozycje miastami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z Rodzica B (zachowujac kolejnosc)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[1 2 | 3 4 5 | 6 7]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[3 7   4 2 6   1 5]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[7 2 | 3 4 5 | 1 6]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wzgledna kolejnosc miast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743200" cy="3886200"/>
          </a:xfrm>
          <a:prstGeom prst="rect">
            <a:avLst/>
          </a:prstGeom>
          <a:solidFill>
            <a:srgbClr val="F5EEF8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005840"/>
            <a:ext cx="274320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051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— Cycle Crossover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560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Znajdz cykl pozycji miedzy R.A a R.B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Pozycje cyklu pobrane z Rodzica A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Pozostale pozycje — z Rodzica B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[1 2 3 4 5 6 7]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[3 4 5 2 1 7 6]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Cykl: 1-&gt;3-&gt;5-&gt;1 (poz. 0,2,4)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[1 4 3 2 5 7 6]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bezwzgledne pozycje elem.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743200" cy="3886200"/>
          </a:xfrm>
          <a:prstGeom prst="rect">
            <a:avLst/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05840"/>
            <a:ext cx="274320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051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PMX — Partially Mapped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560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Wybierz segment (jak w OX)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Zbuduj tabele odwzorowania A&lt;-&gt;B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Pozostale pozycje wypelnij przez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mapowanie (rozwiaz konflikty)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[1 2 | 3 4 | 5 6 7]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[5 4 | 6 2 | 3 1 7]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Mapa: 3&lt;-&gt;6, 4&lt;-&gt;2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[1 2 | 3 4 | 5 6 7] -&gt; rozw.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relacje miedzy pozycjami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mutacji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EBF5F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2-swap (domyslny)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Wybierz 2 losowe pozycje i, j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Zamien miejscami miasta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Przed:[1 2 3 4 5 6 7]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 j=4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Po:  [1 5 3 4 2 6 7]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Minimalne zaburzenie, szybki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5EEF8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4114800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(przesuniecie)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73168" y="1389888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Wyjmij element z pozycji i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Wstaw na pozycje j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Przed:[1 2 3 4 5 6 7]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 j=4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Po:  [1 3 4 5 2 6 7]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kolejnosc sasiadów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41148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63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 (przetasowanie)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401568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Wybierz losowy pododcinek [i..j]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Przetasuj losowo elementy segmentu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Przed:[1 2 3 4 5 6 7]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[2..5]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Po:  [1 2 5 3 4 6 7]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Silniejsze zaburzenie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14800" cy="1828800"/>
          </a:xfrm>
          <a:prstGeom prst="rect">
            <a:avLst/>
          </a:prstGeom>
          <a:solidFill>
            <a:srgbClr val="E9F7E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017520"/>
            <a:ext cx="411480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63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(inwersja)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3401568"/>
            <a:ext cx="38953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Wybierz losowy pododcinek [i..j]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Odwróc kolejnosc elementów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Przed:[1 2 3 4 5 6 7]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[1..4]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Po:  [1 5 4 3 2 6 7]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Podstawa algorytmu 2-opt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Przeszukiwanie lokalne: Hill Climbing (2-opt / 3-opt)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572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2-opt: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Usun dwie krawedzie trasy i polacz wierzcholki na nowo.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Jesli nowa trasa jest krótsza — przyjmij ja.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(first improvement):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Dla kazdej pary krawedzi (i, j)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Oblicz delta = new_length - old_length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Jesli delta &lt; -eps -&gt; przyjmij i zacznij od nowa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3-opt: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przebiegi 2-opt + jeden finalny przebieg.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Glebsze przeszukiwanie, nieco wolniejsze.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AG: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Stosowany do kazdego potomka po mutacji.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Aktywowany od pokolenia hillclimbing_start_generation.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 2-opt: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0" y="1554480"/>
            <a:ext cx="1005840" cy="18288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645920"/>
            <a:ext cx="640080" cy="27432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554480"/>
            <a:ext cx="1188720" cy="365760"/>
          </a:xfrm>
          <a:prstGeom prst="line">
            <a:avLst/>
          </a:prstGeom>
          <a:noFill/>
          <a:ln w="12700">
            <a:solidFill>
              <a:srgbClr val="5D7A99"/>
            </a:solidFill>
            <a:prstDash val="dot"/>
          </a:ln>
        </p:spPr>
      </p:sp>
      <p:sp>
        <p:nvSpPr>
          <p:cNvPr id="9" name="Shape 7"/>
          <p:cNvSpPr/>
          <p:nvPr/>
        </p:nvSpPr>
        <p:spPr>
          <a:xfrm>
            <a:off x="5449824" y="160934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9824" y="160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55664" y="142646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644384" y="179222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284464" y="151790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517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2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2-opt: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926080"/>
            <a:ext cx="2194560" cy="18288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743200"/>
            <a:ext cx="1828800" cy="9144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279806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55664" y="261518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44384" y="298094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44384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84464" y="270662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&lt; 0 -&gt; trasa ulepszona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4434840"/>
            <a:ext cx="3657600" cy="594360"/>
          </a:xfrm>
          <a:prstGeom prst="rect">
            <a:avLst/>
          </a:prstGeom>
          <a:solidFill>
            <a:srgbClr val="E8F8F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4480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d(A,C) + d(B,D) - d(A,B) - d(C,D)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Zarzadzanie instancjami TSP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303520" cy="868680"/>
          </a:xfrm>
          <a:prstGeom prst="rect">
            <a:avLst/>
          </a:prstGeom>
          <a:solidFill>
            <a:srgbClr val="FAFCFF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280160"/>
            <a:ext cx="310896" cy="310896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106984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Bezposrednia sciezka (Direct Path)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35331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Jesli podano sciezke do pliku — wczytywany bezposrednio przez load_tsplib_instance()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1874520"/>
            <a:ext cx="18288" cy="137160"/>
          </a:xfrm>
          <a:prstGeom prst="line">
            <a:avLst/>
          </a:prstGeom>
          <a:noFill/>
          <a:ln w="19050">
            <a:solidFill>
              <a:srgbClr val="5D7A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011680"/>
            <a:ext cx="5303520" cy="868680"/>
          </a:xfrm>
          <a:prstGeom prst="rect">
            <a:avLst/>
          </a:prstGeom>
          <a:solidFill>
            <a:srgbClr val="FAFCFF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310896" cy="3108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207568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instances/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235915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Wyszukiwanie pliku ./instances/&lt;name&gt;.tsp w katalogu projektu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2880360"/>
            <a:ext cx="18288" cy="137160"/>
          </a:xfrm>
          <a:prstGeom prst="line">
            <a:avLst/>
          </a:prstGeom>
          <a:noFill/>
          <a:ln w="19050">
            <a:solidFill>
              <a:srgbClr val="5D7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17520"/>
            <a:ext cx="5303520" cy="868680"/>
          </a:xfrm>
          <a:prstGeom prst="rect">
            <a:avLst/>
          </a:prstGeom>
          <a:solidFill>
            <a:srgbClr val="FAFCFF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329184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308152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syntetyczne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" y="336499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Jesli plik nieznaleziony — generowane sa syntetyczne miasta: uklad kolisty + losowe zaburzenia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114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Wbudowane instancje TSPLIB: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1261872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434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berlin52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miasta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73352" y="4434840"/>
            <a:ext cx="1261872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73352" y="4434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eil51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miast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26664" y="4434840"/>
            <a:ext cx="1261872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26664" y="4434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kroA100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miast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79976" y="4434840"/>
            <a:ext cx="1261872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9976" y="44348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ch130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D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miast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1005840"/>
            <a:ext cx="2880360" cy="3108960"/>
          </a:xfrm>
          <a:prstGeom prst="rect">
            <a:avLst/>
          </a:prstGeom>
          <a:solidFill>
            <a:srgbClr val="F4F6F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051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TSPLIB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146304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berlin52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TSP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DIMENSION: 52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EDGE_WEIGHT_TYPE: EUC_2D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NODE_COORD_SECTION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1  565.0  575.0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2  25.0   185.0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4160520"/>
            <a:ext cx="288036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42062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d(i,j) = sqrt((xi-xj)^2 + (yi-yj)^2)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Funkcjonalnosc aplikacji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71A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2918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 trasy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Interaktywna kanwa Tkinter: wyswietlanie miast i aktualnej najlepszej trasy w czasie rzeczywistym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0584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AA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005840"/>
            <a:ext cx="2743200" cy="32918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Wykresy zbieznosci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46120" y="138988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Sledzenie best / average fitness w kolejnych pokoleniach. GARunResult przechowuje historie metryk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743200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51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parametrów AG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138988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Rozmiar populacji, liczba pokolen, metoda selekcji, typ krzyzowania, typ mutacji, elityzm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27432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40156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Wlaczanie 2-opt i 3-opt. Konfiguracja pokolenia aktywacji (hillclimbing_start_generation)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3017520"/>
            <a:ext cx="274320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Wczytywanie instancji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40156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wbudowanych (berlin52, eil51, kroA100, ch130) lub wczytanie zewnetrznego pliku .tsp przez GUI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3017520"/>
            <a:ext cx="27432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debugowania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3401568"/>
            <a:ext cx="25603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scenariusze z eksportem logów: konwersja wartosci, selekcja, krzyzowanie, mutacja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i debugowanie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011680" cy="2743200"/>
          </a:xfrm>
          <a:prstGeom prst="rect">
            <a:avLst/>
          </a:prstGeom>
          <a:solidFill>
            <a:srgbClr val="FAFCF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1188720"/>
            <a:ext cx="310896" cy="310896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Konwersja wartosci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kodowania binarnego: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(value - min) / (max - min) × poziomy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2011680" cy="2743200"/>
          </a:xfrm>
          <a:prstGeom prst="rect">
            <a:avLst/>
          </a:prstGeom>
          <a:solidFill>
            <a:srgbClr val="FAFC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188720"/>
            <a:ext cx="310896" cy="3108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Poprawnosc selekcji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2148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selekcji turniejowej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ruletki na populacji testowej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2011680" cy="2743200"/>
          </a:xfrm>
          <a:prstGeom prst="rect">
            <a:avLst/>
          </a:prstGeom>
          <a:solidFill>
            <a:srgbClr val="FAFCFF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22392" y="118872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Operacje krzyzowania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Sledzenie OX / CX / PMX: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poprawnosci permutacji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1051560"/>
            <a:ext cx="2011680" cy="2743200"/>
          </a:xfrm>
          <a:prstGeom prst="rect">
            <a:avLst/>
          </a:prstGeom>
          <a:solidFill>
            <a:srgbClr val="FAFC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71232" y="1188720"/>
            <a:ext cx="310896" cy="3108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 mutacji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12280" y="2148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2-swap / Shift 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 / Inversion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E9F7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776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jednostkowe (tests/):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Unit-testy operatorów AG  ·  Testy potoku run_ga()  ·  Eksport logów  ·  Autonomiczne uruchomienie bez GUI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Zaimplementowany pelny potok AG do rozwiazywania problemu komiwojazera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196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Elastyczna konfiguracja: 2 metody selekcji, 3 operatory krzyzowania, 4 operatory mutacji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237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przeszukiwania lokalnego Hill Climbing (2-opt / 3-opt) dla poprawy jakosci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2278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Interaktywna wizualizacja trasy i wykresy zbieznosci w czasie rzeczywistym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310896" cy="31089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 standardowych instancji TSPLIB + wczytywanie zewnetrznych plików .tsp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github.com/Ar1Mi/TSP-SYM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1302</Words>
  <Application>Microsoft Office PowerPoint</Application>
  <PresentationFormat>Экран (16:9)</PresentationFormat>
  <Paragraphs>247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TSP-SYM</dc:title>
  <dc:subject>PptxGenJS Presentation</dc:subject>
  <dc:creator>PptxGenJS</dc:creator>
  <cp:lastModifiedBy>Yahor</cp:lastModifiedBy>
  <cp:revision>3</cp:revision>
  <dcterms:created xsi:type="dcterms:W3CDTF">2026-05-26T22:07:48Z</dcterms:created>
  <dcterms:modified xsi:type="dcterms:W3CDTF">2026-05-26T22:46:37Z</dcterms:modified>
</cp:coreProperties>
</file>